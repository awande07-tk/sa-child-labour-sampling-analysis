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8" r:id="rId1"/>
  </p:sldMasterIdLst>
  <p:notesMasterIdLst>
    <p:notesMasterId r:id="rId11"/>
  </p:notesMasterIdLst>
  <p:sldIdLst>
    <p:sldId id="256" r:id="rId2"/>
    <p:sldId id="263" r:id="rId3"/>
    <p:sldId id="257" r:id="rId4"/>
    <p:sldId id="258" r:id="rId5"/>
    <p:sldId id="259" r:id="rId6"/>
    <p:sldId id="264" r:id="rId7"/>
    <p:sldId id="265" r:id="rId8"/>
    <p:sldId id="261" r:id="rId9"/>
    <p:sldId id="262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700" y="6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636D57F-2F6F-4837-9388-D332219B5B59}" type="doc">
      <dgm:prSet loTypeId="urn:microsoft.com/office/officeart/2005/8/layout/hierarchy1" loCatId="hierarchy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F20E3A6-62B6-4B2D-9D0D-3B0C61944CDF}">
      <dgm:prSet/>
      <dgm:spPr/>
      <dgm:t>
        <a:bodyPr/>
        <a:lstStyle/>
        <a:p>
          <a:pPr>
            <a:defRPr cap="all"/>
          </a:pPr>
          <a:r>
            <a:rPr lang="en-US" dirty="0"/>
            <a:t>• </a:t>
          </a:r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Estimate the mean age, the proportions, and totals of South African children (ages 5–17) who attend school and are involved in child </a:t>
          </a:r>
          <a:r>
            <a:rPr lang="en-US" dirty="0" err="1">
              <a:latin typeface="Arial" panose="020B0604020202020204" pitchFamily="34" charset="0"/>
              <a:cs typeface="Arial" panose="020B0604020202020204" pitchFamily="34" charset="0"/>
            </a:rPr>
            <a:t>labour</a:t>
          </a:r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.</a:t>
          </a:r>
        </a:p>
      </dgm:t>
    </dgm:pt>
    <dgm:pt modelId="{D85391C9-E249-4EAA-B6ED-679BF6166381}" type="parTrans" cxnId="{3B505BD8-23BA-4C03-AB86-82F8637B3465}">
      <dgm:prSet/>
      <dgm:spPr/>
      <dgm:t>
        <a:bodyPr/>
        <a:lstStyle/>
        <a:p>
          <a:endParaRPr lang="en-US"/>
        </a:p>
      </dgm:t>
    </dgm:pt>
    <dgm:pt modelId="{DCEFB3D5-50D6-491A-8511-B2C769FF6D73}" type="sibTrans" cxnId="{3B505BD8-23BA-4C03-AB86-82F8637B3465}">
      <dgm:prSet/>
      <dgm:spPr/>
      <dgm:t>
        <a:bodyPr/>
        <a:lstStyle/>
        <a:p>
          <a:endParaRPr lang="en-US"/>
        </a:p>
      </dgm:t>
    </dgm:pt>
    <dgm:pt modelId="{38CBA53E-2433-4327-806F-34E4CB964D2E}">
      <dgm:prSet/>
      <dgm:spPr/>
      <dgm:t>
        <a:bodyPr/>
        <a:lstStyle/>
        <a:p>
          <a:pPr>
            <a:defRPr cap="all"/>
          </a:pPr>
          <a:r>
            <a:rPr lang="en-US" dirty="0"/>
            <a:t>• </a:t>
          </a:r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Apply four sampling methods to determine which provides the most reliable and precise estimates.</a:t>
          </a:r>
        </a:p>
      </dgm:t>
    </dgm:pt>
    <dgm:pt modelId="{0EBF4E19-0E18-49FC-8EA4-8422F8B00C1A}" type="parTrans" cxnId="{F82DB48A-E374-4F76-8BEC-D30F2BEFA107}">
      <dgm:prSet/>
      <dgm:spPr/>
      <dgm:t>
        <a:bodyPr/>
        <a:lstStyle/>
        <a:p>
          <a:endParaRPr lang="en-US"/>
        </a:p>
      </dgm:t>
    </dgm:pt>
    <dgm:pt modelId="{F26332BE-9611-4A29-8AA2-C059978DEF54}" type="sibTrans" cxnId="{F82DB48A-E374-4F76-8BEC-D30F2BEFA107}">
      <dgm:prSet/>
      <dgm:spPr/>
      <dgm:t>
        <a:bodyPr/>
        <a:lstStyle/>
        <a:p>
          <a:endParaRPr lang="en-US"/>
        </a:p>
      </dgm:t>
    </dgm:pt>
    <dgm:pt modelId="{F8C7C48C-C93E-4A2A-A9AC-373354AE631B}" type="pres">
      <dgm:prSet presAssocID="{E636D57F-2F6F-4837-9388-D332219B5B59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00D78A9F-D371-4D92-AC10-BEEF95C76DA7}" type="pres">
      <dgm:prSet presAssocID="{FF20E3A6-62B6-4B2D-9D0D-3B0C61944CDF}" presName="hierRoot1" presStyleCnt="0"/>
      <dgm:spPr/>
    </dgm:pt>
    <dgm:pt modelId="{BAE7A793-E1E7-4B16-BD35-0372948BAD93}" type="pres">
      <dgm:prSet presAssocID="{FF20E3A6-62B6-4B2D-9D0D-3B0C61944CDF}" presName="composite" presStyleCnt="0"/>
      <dgm:spPr/>
    </dgm:pt>
    <dgm:pt modelId="{18BE9B2A-07A4-4CC6-983E-1E90B0B2263B}" type="pres">
      <dgm:prSet presAssocID="{FF20E3A6-62B6-4B2D-9D0D-3B0C61944CDF}" presName="background" presStyleLbl="node0" presStyleIdx="0" presStyleCnt="2"/>
      <dgm:spPr/>
    </dgm:pt>
    <dgm:pt modelId="{E046508C-ECD7-49E7-A276-0F524584AA28}" type="pres">
      <dgm:prSet presAssocID="{FF20E3A6-62B6-4B2D-9D0D-3B0C61944CDF}" presName="text" presStyleLbl="fgAcc0" presStyleIdx="0" presStyleCnt="2">
        <dgm:presLayoutVars>
          <dgm:chPref val="3"/>
        </dgm:presLayoutVars>
      </dgm:prSet>
      <dgm:spPr/>
    </dgm:pt>
    <dgm:pt modelId="{3173F08D-8A52-4DD1-AE68-A279F8C11239}" type="pres">
      <dgm:prSet presAssocID="{FF20E3A6-62B6-4B2D-9D0D-3B0C61944CDF}" presName="hierChild2" presStyleCnt="0"/>
      <dgm:spPr/>
    </dgm:pt>
    <dgm:pt modelId="{3BB018A1-AF16-4A39-845A-540E87A6601A}" type="pres">
      <dgm:prSet presAssocID="{38CBA53E-2433-4327-806F-34E4CB964D2E}" presName="hierRoot1" presStyleCnt="0"/>
      <dgm:spPr/>
    </dgm:pt>
    <dgm:pt modelId="{E370C8FB-CA7B-4D75-985B-1CBAD7D0E494}" type="pres">
      <dgm:prSet presAssocID="{38CBA53E-2433-4327-806F-34E4CB964D2E}" presName="composite" presStyleCnt="0"/>
      <dgm:spPr/>
    </dgm:pt>
    <dgm:pt modelId="{573B9083-4C1A-4E16-94F5-99FEC255D95D}" type="pres">
      <dgm:prSet presAssocID="{38CBA53E-2433-4327-806F-34E4CB964D2E}" presName="background" presStyleLbl="node0" presStyleIdx="1" presStyleCnt="2"/>
      <dgm:spPr/>
    </dgm:pt>
    <dgm:pt modelId="{0FDE7195-96B8-4BCF-95A5-DB033D0DD4A7}" type="pres">
      <dgm:prSet presAssocID="{38CBA53E-2433-4327-806F-34E4CB964D2E}" presName="text" presStyleLbl="fgAcc0" presStyleIdx="1" presStyleCnt="2">
        <dgm:presLayoutVars>
          <dgm:chPref val="3"/>
        </dgm:presLayoutVars>
      </dgm:prSet>
      <dgm:spPr/>
    </dgm:pt>
    <dgm:pt modelId="{C42B72AE-66FB-4EED-A32D-9B6F811E17B2}" type="pres">
      <dgm:prSet presAssocID="{38CBA53E-2433-4327-806F-34E4CB964D2E}" presName="hierChild2" presStyleCnt="0"/>
      <dgm:spPr/>
    </dgm:pt>
  </dgm:ptLst>
  <dgm:cxnLst>
    <dgm:cxn modelId="{3F70F329-DB45-4375-98EA-BB6E404C6318}" type="presOf" srcId="{FF20E3A6-62B6-4B2D-9D0D-3B0C61944CDF}" destId="{E046508C-ECD7-49E7-A276-0F524584AA28}" srcOrd="0" destOrd="0" presId="urn:microsoft.com/office/officeart/2005/8/layout/hierarchy1"/>
    <dgm:cxn modelId="{CF9EA960-A201-4B89-AE2B-5BC214D3FBAF}" type="presOf" srcId="{38CBA53E-2433-4327-806F-34E4CB964D2E}" destId="{0FDE7195-96B8-4BCF-95A5-DB033D0DD4A7}" srcOrd="0" destOrd="0" presId="urn:microsoft.com/office/officeart/2005/8/layout/hierarchy1"/>
    <dgm:cxn modelId="{F82DB48A-E374-4F76-8BEC-D30F2BEFA107}" srcId="{E636D57F-2F6F-4837-9388-D332219B5B59}" destId="{38CBA53E-2433-4327-806F-34E4CB964D2E}" srcOrd="1" destOrd="0" parTransId="{0EBF4E19-0E18-49FC-8EA4-8422F8B00C1A}" sibTransId="{F26332BE-9611-4A29-8AA2-C059978DEF54}"/>
    <dgm:cxn modelId="{958969CB-5BEB-429B-8265-42C93FA03129}" type="presOf" srcId="{E636D57F-2F6F-4837-9388-D332219B5B59}" destId="{F8C7C48C-C93E-4A2A-A9AC-373354AE631B}" srcOrd="0" destOrd="0" presId="urn:microsoft.com/office/officeart/2005/8/layout/hierarchy1"/>
    <dgm:cxn modelId="{3B505BD8-23BA-4C03-AB86-82F8637B3465}" srcId="{E636D57F-2F6F-4837-9388-D332219B5B59}" destId="{FF20E3A6-62B6-4B2D-9D0D-3B0C61944CDF}" srcOrd="0" destOrd="0" parTransId="{D85391C9-E249-4EAA-B6ED-679BF6166381}" sibTransId="{DCEFB3D5-50D6-491A-8511-B2C769FF6D73}"/>
    <dgm:cxn modelId="{23BEE8E3-C4B4-408D-A325-AA9D9783C893}" type="presParOf" srcId="{F8C7C48C-C93E-4A2A-A9AC-373354AE631B}" destId="{00D78A9F-D371-4D92-AC10-BEEF95C76DA7}" srcOrd="0" destOrd="0" presId="urn:microsoft.com/office/officeart/2005/8/layout/hierarchy1"/>
    <dgm:cxn modelId="{4737E231-687E-4DBD-AD32-7A2BEF867988}" type="presParOf" srcId="{00D78A9F-D371-4D92-AC10-BEEF95C76DA7}" destId="{BAE7A793-E1E7-4B16-BD35-0372948BAD93}" srcOrd="0" destOrd="0" presId="urn:microsoft.com/office/officeart/2005/8/layout/hierarchy1"/>
    <dgm:cxn modelId="{2BA93C96-A15A-442D-AD1F-66FE3E9B9B31}" type="presParOf" srcId="{BAE7A793-E1E7-4B16-BD35-0372948BAD93}" destId="{18BE9B2A-07A4-4CC6-983E-1E90B0B2263B}" srcOrd="0" destOrd="0" presId="urn:microsoft.com/office/officeart/2005/8/layout/hierarchy1"/>
    <dgm:cxn modelId="{2BF069C6-CA10-44F2-A11A-6BE71D8187B8}" type="presParOf" srcId="{BAE7A793-E1E7-4B16-BD35-0372948BAD93}" destId="{E046508C-ECD7-49E7-A276-0F524584AA28}" srcOrd="1" destOrd="0" presId="urn:microsoft.com/office/officeart/2005/8/layout/hierarchy1"/>
    <dgm:cxn modelId="{9E798579-CA41-4C81-B030-06110C58189D}" type="presParOf" srcId="{00D78A9F-D371-4D92-AC10-BEEF95C76DA7}" destId="{3173F08D-8A52-4DD1-AE68-A279F8C11239}" srcOrd="1" destOrd="0" presId="urn:microsoft.com/office/officeart/2005/8/layout/hierarchy1"/>
    <dgm:cxn modelId="{F2C1FE96-999D-4D06-907E-62E01BB8DE66}" type="presParOf" srcId="{F8C7C48C-C93E-4A2A-A9AC-373354AE631B}" destId="{3BB018A1-AF16-4A39-845A-540E87A6601A}" srcOrd="1" destOrd="0" presId="urn:microsoft.com/office/officeart/2005/8/layout/hierarchy1"/>
    <dgm:cxn modelId="{252170CB-E061-44D4-8566-44B800964174}" type="presParOf" srcId="{3BB018A1-AF16-4A39-845A-540E87A6601A}" destId="{E370C8FB-CA7B-4D75-985B-1CBAD7D0E494}" srcOrd="0" destOrd="0" presId="urn:microsoft.com/office/officeart/2005/8/layout/hierarchy1"/>
    <dgm:cxn modelId="{2994F015-56CD-46CB-99F0-E47512277073}" type="presParOf" srcId="{E370C8FB-CA7B-4D75-985B-1CBAD7D0E494}" destId="{573B9083-4C1A-4E16-94F5-99FEC255D95D}" srcOrd="0" destOrd="0" presId="urn:microsoft.com/office/officeart/2005/8/layout/hierarchy1"/>
    <dgm:cxn modelId="{4F1A7C1B-697B-4251-9397-BF2CBC18B02D}" type="presParOf" srcId="{E370C8FB-CA7B-4D75-985B-1CBAD7D0E494}" destId="{0FDE7195-96B8-4BCF-95A5-DB033D0DD4A7}" srcOrd="1" destOrd="0" presId="urn:microsoft.com/office/officeart/2005/8/layout/hierarchy1"/>
    <dgm:cxn modelId="{AC62D214-A3A5-43C1-BD97-76C4141A39E9}" type="presParOf" srcId="{3BB018A1-AF16-4A39-845A-540E87A6601A}" destId="{C42B72AE-66FB-4EED-A32D-9B6F811E17B2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BE9B2A-07A4-4CC6-983E-1E90B0B2263B}">
      <dsp:nvSpPr>
        <dsp:cNvPr id="0" name=""/>
        <dsp:cNvSpPr/>
      </dsp:nvSpPr>
      <dsp:spPr>
        <a:xfrm>
          <a:off x="1172" y="138496"/>
          <a:ext cx="4115155" cy="261312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1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046508C-ECD7-49E7-A276-0F524584AA28}">
      <dsp:nvSpPr>
        <dsp:cNvPr id="0" name=""/>
        <dsp:cNvSpPr/>
      </dsp:nvSpPr>
      <dsp:spPr>
        <a:xfrm>
          <a:off x="458411" y="572873"/>
          <a:ext cx="4115155" cy="261312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100" kern="1200" dirty="0"/>
            <a:t>• </a:t>
          </a:r>
          <a:r>
            <a:rPr lang="en-US" sz="2100" kern="1200" dirty="0">
              <a:latin typeface="Arial" panose="020B0604020202020204" pitchFamily="34" charset="0"/>
              <a:cs typeface="Arial" panose="020B0604020202020204" pitchFamily="34" charset="0"/>
            </a:rPr>
            <a:t>Estimate the mean age, the proportions, and totals of South African children (ages 5–17) who attend school and are involved in child </a:t>
          </a:r>
          <a:r>
            <a:rPr lang="en-US" sz="2100" kern="1200" dirty="0" err="1">
              <a:latin typeface="Arial" panose="020B0604020202020204" pitchFamily="34" charset="0"/>
              <a:cs typeface="Arial" panose="020B0604020202020204" pitchFamily="34" charset="0"/>
            </a:rPr>
            <a:t>labour</a:t>
          </a:r>
          <a:r>
            <a:rPr lang="en-US" sz="2100" kern="1200" dirty="0">
              <a:latin typeface="Arial" panose="020B0604020202020204" pitchFamily="34" charset="0"/>
              <a:cs typeface="Arial" panose="020B0604020202020204" pitchFamily="34" charset="0"/>
            </a:rPr>
            <a:t>.</a:t>
          </a:r>
        </a:p>
      </dsp:txBody>
      <dsp:txXfrm>
        <a:off x="534947" y="649409"/>
        <a:ext cx="3962083" cy="2460051"/>
      </dsp:txXfrm>
    </dsp:sp>
    <dsp:sp modelId="{573B9083-4C1A-4E16-94F5-99FEC255D95D}">
      <dsp:nvSpPr>
        <dsp:cNvPr id="0" name=""/>
        <dsp:cNvSpPr/>
      </dsp:nvSpPr>
      <dsp:spPr>
        <a:xfrm>
          <a:off x="5030807" y="138496"/>
          <a:ext cx="4115155" cy="261312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1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FDE7195-96B8-4BCF-95A5-DB033D0DD4A7}">
      <dsp:nvSpPr>
        <dsp:cNvPr id="0" name=""/>
        <dsp:cNvSpPr/>
      </dsp:nvSpPr>
      <dsp:spPr>
        <a:xfrm>
          <a:off x="5488046" y="572873"/>
          <a:ext cx="4115155" cy="261312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100" kern="1200" dirty="0"/>
            <a:t>• </a:t>
          </a:r>
          <a:r>
            <a:rPr lang="en-US" sz="2100" kern="1200" dirty="0">
              <a:latin typeface="Arial" panose="020B0604020202020204" pitchFamily="34" charset="0"/>
              <a:cs typeface="Arial" panose="020B0604020202020204" pitchFamily="34" charset="0"/>
            </a:rPr>
            <a:t>Apply four sampling methods to determine which provides the most reliable and precise estimates.</a:t>
          </a:r>
        </a:p>
      </dsp:txBody>
      <dsp:txXfrm>
        <a:off x="5564582" y="649409"/>
        <a:ext cx="3962083" cy="246005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A844BC-5AEE-4698-AA09-CA6502945FFB}" type="datetimeFigureOut">
              <a:rPr lang="en-ZA" smtClean="0"/>
              <a:t>2026/08/08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48BEA6-FCEB-4A2F-B2E5-558EEFEB523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8845130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48BEA6-FCEB-4A2F-B2E5-558EEFEB523E}" type="slidenum">
              <a:rPr lang="en-ZA" smtClean="0"/>
              <a:t>8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2481781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26248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08659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19614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47872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0759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08731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728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14267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80817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04117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12719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19302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65513E21-21B0-48DB-8CF1-35E43B33A4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 descr="Close-up of a calculator keypad">
            <a:extLst>
              <a:ext uri="{FF2B5EF4-FFF2-40B4-BE49-F238E27FC236}">
                <a16:creationId xmlns:a16="http://schemas.microsoft.com/office/drawing/2014/main" id="{E1891993-AE4B-4CFB-5DB0-00970F5050E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grayscl/>
          </a:blip>
          <a:srcRect r="-1" b="15092"/>
          <a:stretch>
            <a:fillRect/>
          </a:stretch>
        </p:blipFill>
        <p:spPr>
          <a:xfrm>
            <a:off x="305" y="10"/>
            <a:ext cx="12191695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76636" y="992221"/>
            <a:ext cx="6247308" cy="4873558"/>
          </a:xfrm>
        </p:spPr>
        <p:txBody>
          <a:bodyPr anchor="ctr">
            <a:norm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rPr lang="en-US" sz="48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reflection endPos="7000" dist="50800" dir="5400000" sy="-100000" algn="bl" rotWithShape="0"/>
                </a:effectLst>
                <a:latin typeface="Arial" panose="020B0604020202020204" pitchFamily="34" charset="0"/>
                <a:cs typeface="Arial" panose="020B0604020202020204" pitchFamily="34" charset="0"/>
              </a:rPr>
              <a:t>Sampling Methods and Analysis of South African Children (Ages 5–17)</a:t>
            </a:r>
            <a:br>
              <a:rPr lang="en-US" sz="4800" dirty="0"/>
            </a:br>
            <a:endParaRPr lang="en-ZA" sz="4800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99BF3C4C-2664-EF1A-290E-496A330983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8056" y="996610"/>
            <a:ext cx="3363901" cy="4864780"/>
          </a:xfrm>
        </p:spPr>
        <p:txBody>
          <a:bodyPr anchor="ctr">
            <a:normAutofit/>
          </a:bodyPr>
          <a:lstStyle/>
          <a:p>
            <a:pPr algn="r"/>
            <a:r>
              <a:rPr lang="en-ZA" sz="2000" b="1" dirty="0">
                <a:solidFill>
                  <a:schemeClr val="bg2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by</a:t>
            </a:r>
          </a:p>
          <a:p>
            <a:pPr algn="r"/>
            <a:r>
              <a:rPr lang="en-ZA" sz="2000" b="1">
                <a:solidFill>
                  <a:schemeClr val="bg2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Awande Magwaza</a:t>
            </a:r>
            <a:endParaRPr lang="en-ZA" sz="2000" b="1" dirty="0">
              <a:solidFill>
                <a:schemeClr val="bg2">
                  <a:lumMod val="40000"/>
                  <a:lumOff val="6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580B8A35-DEA7-4D43-9DF8-90B4681D0F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600200"/>
            <a:ext cx="0" cy="365760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68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93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9C51009-A09A-4689-8E6C-F8FC99E6A8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62F5C5-4549-96F6-87D0-C47C289727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476" y="1600199"/>
            <a:ext cx="3539266" cy="4297680"/>
          </a:xfrm>
        </p:spPr>
        <p:txBody>
          <a:bodyPr anchor="ctr">
            <a:normAutofit/>
          </a:bodyPr>
          <a:lstStyle/>
          <a:p>
            <a:r>
              <a:rPr lang="en-ZA" dirty="0"/>
              <a:t>Outline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EC65442-F244-409C-BF44-C5D6472E81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2148839"/>
            <a:ext cx="0" cy="320040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E0C4D0-6407-25E0-E361-0B0ED41486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4851" y="1600199"/>
            <a:ext cx="6130003" cy="4297680"/>
          </a:xfrm>
        </p:spPr>
        <p:txBody>
          <a:bodyPr anchor="ctr">
            <a:normAutofit/>
          </a:bodyPr>
          <a:lstStyle/>
          <a:p>
            <a:pPr lvl="1"/>
            <a:r>
              <a:rPr lang="en-ZA" dirty="0"/>
              <a:t>AIM OF STUDY</a:t>
            </a:r>
          </a:p>
          <a:p>
            <a:pPr lvl="1"/>
            <a:r>
              <a:rPr lang="en-ZA" dirty="0"/>
              <a:t>DATA AND VARIABLES</a:t>
            </a:r>
          </a:p>
          <a:p>
            <a:pPr lvl="1"/>
            <a:r>
              <a:rPr lang="en-ZA" dirty="0"/>
              <a:t>SAMPLING METHODS</a:t>
            </a:r>
          </a:p>
          <a:p>
            <a:pPr lvl="1"/>
            <a:r>
              <a:rPr lang="en-ZA" dirty="0"/>
              <a:t>RESULTS OVERVIEW</a:t>
            </a:r>
          </a:p>
          <a:p>
            <a:pPr lvl="1"/>
            <a:r>
              <a:rPr lang="en-ZA" dirty="0"/>
              <a:t>DETAILED COMPARISON</a:t>
            </a:r>
          </a:p>
          <a:p>
            <a:pPr lvl="1"/>
            <a:r>
              <a:rPr lang="en-ZA" dirty="0"/>
              <a:t>CONCLUSION </a:t>
            </a:r>
          </a:p>
          <a:p>
            <a:pPr lvl="1"/>
            <a:endParaRPr lang="en-ZA" dirty="0"/>
          </a:p>
          <a:p>
            <a:pPr lvl="1"/>
            <a:endParaRPr lang="en-ZA" dirty="0"/>
          </a:p>
          <a:p>
            <a:pPr lvl="1"/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9832886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5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250"/>
                            </p:stCondLst>
                            <p:childTnLst>
                              <p:par>
                                <p:cTn id="2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5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7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7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5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75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5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750"/>
                            </p:stCondLst>
                            <p:childTnLst>
                              <p:par>
                                <p:cTn id="3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75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75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75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rPr lang="en-ZA" sz="3600"/>
              <a:t>Aim of Study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7FAB123-EAE5-FF36-74E5-C8A1B25B96C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43488927"/>
              </p:ext>
            </p:extLst>
          </p:nvPr>
        </p:nvGraphicFramePr>
        <p:xfrm>
          <a:off x="1450975" y="2340435"/>
          <a:ext cx="9604375" cy="33244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rPr lang="en-ZA"/>
              <a:t>Data and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defRPr sz="2000">
                <a:solidFill>
                  <a:srgbClr val="1E1E1E"/>
                </a:solidFill>
              </a:defRPr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Data Source: Survey of Activities of Young People (SAYP) 2019.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Observations: </a:t>
            </a:r>
          </a:p>
          <a:p>
            <a:pPr lvl="1">
              <a:defRPr sz="2000">
                <a:solidFill>
                  <a:srgbClr val="1E1E1E"/>
                </a:solidFill>
              </a:defRPr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13,336 cases</a:t>
            </a:r>
          </a:p>
          <a:p>
            <a:pPr lvl="1">
              <a:defRPr sz="2000">
                <a:solidFill>
                  <a:srgbClr val="1E1E1E"/>
                </a:solidFill>
              </a:defRPr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136 variables 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Key Variables:</a:t>
            </a:r>
          </a:p>
          <a:p>
            <a:pPr lvl="1"/>
            <a:r>
              <a:rPr lang="en-ZA" sz="2000" dirty="0">
                <a:latin typeface="Arial" panose="020B0604020202020204" pitchFamily="34" charset="0"/>
                <a:cs typeface="Arial" panose="020B0604020202020204" pitchFamily="34" charset="0"/>
              </a:rPr>
              <a:t>Q13Age : Continuous</a:t>
            </a:r>
          </a:p>
          <a:p>
            <a:pPr lvl="1"/>
            <a:r>
              <a:rPr lang="en-ZA" sz="2000" dirty="0">
                <a:latin typeface="Arial" panose="020B0604020202020204" pitchFamily="34" charset="0"/>
                <a:cs typeface="Arial" panose="020B0604020202020204" pitchFamily="34" charset="0"/>
              </a:rPr>
              <a:t>Q22Attend (School Attendance): Categorical </a:t>
            </a:r>
          </a:p>
          <a:p>
            <a:pPr lvl="1"/>
            <a:r>
              <a:rPr lang="en-ZA" sz="2000" dirty="0" err="1">
                <a:latin typeface="Arial" panose="020B0604020202020204" pitchFamily="34" charset="0"/>
                <a:cs typeface="Arial" panose="020B0604020202020204" pitchFamily="34" charset="0"/>
              </a:rPr>
              <a:t>Child_Labour</a:t>
            </a:r>
            <a:r>
              <a:rPr lang="en-ZA" sz="2000" dirty="0">
                <a:latin typeface="Arial" panose="020B0604020202020204" pitchFamily="34" charset="0"/>
                <a:cs typeface="Arial" panose="020B0604020202020204" pitchFamily="34" charset="0"/>
              </a:rPr>
              <a:t> (Child Labour Involvement): Categorical </a:t>
            </a:r>
          </a:p>
          <a:p>
            <a:pPr lvl="1"/>
            <a:r>
              <a:rPr lang="en-ZA" sz="2000" dirty="0" err="1">
                <a:latin typeface="Arial" panose="020B0604020202020204" pitchFamily="34" charset="0"/>
                <a:cs typeface="Arial" panose="020B0604020202020204" pitchFamily="34" charset="0"/>
              </a:rPr>
              <a:t>TotalHours</a:t>
            </a:r>
            <a:r>
              <a:rPr lang="en-ZA" sz="2000" dirty="0">
                <a:latin typeface="Arial" panose="020B0604020202020204" pitchFamily="34" charset="0"/>
                <a:cs typeface="Arial" panose="020B0604020202020204" pitchFamily="34" charset="0"/>
              </a:rPr>
              <a:t> (Hours Worked):Continuous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Sampling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1580" y="2303586"/>
            <a:ext cx="9924343" cy="3450613"/>
          </a:xfrm>
        </p:spPr>
        <p:txBody>
          <a:bodyPr>
            <a:normAutofit/>
          </a:bodyPr>
          <a:lstStyle/>
          <a:p>
            <a:pPr lvl="0"/>
            <a:r>
              <a:rPr lang="en-ZA" b="1" dirty="0">
                <a:latin typeface="Arial" panose="020B0604020202020204" pitchFamily="34" charset="0"/>
                <a:cs typeface="Arial" panose="020B0604020202020204" pitchFamily="34" charset="0"/>
              </a:rPr>
              <a:t>SRS:</a:t>
            </a:r>
            <a:r>
              <a:rPr lang="en-ZA" dirty="0">
                <a:latin typeface="Arial" panose="020B0604020202020204" pitchFamily="34" charset="0"/>
                <a:cs typeface="Arial" panose="020B0604020202020204" pitchFamily="34" charset="0"/>
              </a:rPr>
              <a:t> Randomly selected 3,334 children from the entire country.</a:t>
            </a:r>
          </a:p>
          <a:p>
            <a:pPr lvl="0"/>
            <a:r>
              <a:rPr lang="en-ZA" b="1" dirty="0">
                <a:latin typeface="Arial" panose="020B0604020202020204" pitchFamily="34" charset="0"/>
                <a:cs typeface="Arial" panose="020B0604020202020204" pitchFamily="34" charset="0"/>
              </a:rPr>
              <a:t>SRS WR:</a:t>
            </a:r>
            <a:r>
              <a:rPr lang="en-ZA" dirty="0">
                <a:latin typeface="Arial" panose="020B0604020202020204" pitchFamily="34" charset="0"/>
                <a:cs typeface="Arial" panose="020B0604020202020204" pitchFamily="34" charset="0"/>
              </a:rPr>
              <a:t> Similar to SRS, but allowed for repeated selection.</a:t>
            </a:r>
          </a:p>
          <a:p>
            <a:pPr lvl="0"/>
            <a:r>
              <a:rPr lang="en-ZA" b="1" dirty="0">
                <a:latin typeface="Arial" panose="020B0604020202020204" pitchFamily="34" charset="0"/>
                <a:cs typeface="Arial" panose="020B0604020202020204" pitchFamily="34" charset="0"/>
              </a:rPr>
              <a:t>Stratified:</a:t>
            </a:r>
            <a:r>
              <a:rPr lang="en-ZA" dirty="0">
                <a:latin typeface="Arial" panose="020B0604020202020204" pitchFamily="34" charset="0"/>
                <a:cs typeface="Arial" panose="020B0604020202020204" pitchFamily="34" charset="0"/>
              </a:rPr>
              <a:t> Ensured representation by splitting the population by </a:t>
            </a:r>
            <a:r>
              <a:rPr lang="en-ZA" b="1" dirty="0">
                <a:latin typeface="Arial" panose="020B0604020202020204" pitchFamily="34" charset="0"/>
                <a:cs typeface="Arial" panose="020B0604020202020204" pitchFamily="34" charset="0"/>
              </a:rPr>
              <a:t>Gender</a:t>
            </a:r>
            <a:r>
              <a:rPr lang="en-ZA" dirty="0">
                <a:latin typeface="Arial" panose="020B0604020202020204" pitchFamily="34" charset="0"/>
                <a:cs typeface="Arial" panose="020B0604020202020204" pitchFamily="34" charset="0"/>
              </a:rPr>
              <a:t> and then sampling.</a:t>
            </a:r>
          </a:p>
          <a:p>
            <a:pPr lvl="0"/>
            <a:r>
              <a:rPr lang="en-ZA" b="1" dirty="0">
                <a:latin typeface="Arial" panose="020B0604020202020204" pitchFamily="34" charset="0"/>
                <a:cs typeface="Arial" panose="020B0604020202020204" pitchFamily="34" charset="0"/>
              </a:rPr>
              <a:t>Cluster:</a:t>
            </a:r>
            <a:r>
              <a:rPr lang="en-ZA" dirty="0">
                <a:latin typeface="Arial" panose="020B0604020202020204" pitchFamily="34" charset="0"/>
                <a:cs typeface="Arial" panose="020B0604020202020204" pitchFamily="34" charset="0"/>
              </a:rPr>
              <a:t> Cost Effective, Randomly selected 2 </a:t>
            </a:r>
            <a:r>
              <a:rPr lang="en-ZA" b="1" dirty="0">
                <a:latin typeface="Arial" panose="020B0604020202020204" pitchFamily="34" charset="0"/>
                <a:cs typeface="Arial" panose="020B0604020202020204" pitchFamily="34" charset="0"/>
              </a:rPr>
              <a:t>Provinces</a:t>
            </a:r>
            <a:r>
              <a:rPr lang="en-ZA" dirty="0">
                <a:latin typeface="Arial" panose="020B0604020202020204" pitchFamily="34" charset="0"/>
                <a:cs typeface="Arial" panose="020B0604020202020204" pitchFamily="34" charset="0"/>
              </a:rPr>
              <a:t> and surveyed all children within them.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E903CD-3740-FBA8-9A56-ECF9AF6277C9}"/>
              </a:ext>
            </a:extLst>
          </p:cNvPr>
          <p:cNvSpPr txBox="1"/>
          <p:nvPr/>
        </p:nvSpPr>
        <p:spPr>
          <a:xfrm>
            <a:off x="1451580" y="1853756"/>
            <a:ext cx="65713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Aharoni" panose="020F0502020204030204" pitchFamily="2" charset="-79"/>
              </a:rPr>
              <a:t>Four sampling methods were implemented using seed = 202402:</a:t>
            </a:r>
          </a:p>
          <a:p>
            <a:endParaRPr lang="en-ZA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ABCD2-3B31-338E-84FB-8213D1E77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9100" y="158253"/>
            <a:ext cx="9603275" cy="1049235"/>
          </a:xfrm>
        </p:spPr>
        <p:txBody>
          <a:bodyPr/>
          <a:lstStyle/>
          <a:p>
            <a:r>
              <a:rPr kumimoji="0" lang="en-ZA" sz="3600" b="1" i="0" u="none" strike="noStrike" kern="1200" cap="all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Gill Sans MT" panose="020B0502020104020203"/>
                <a:ea typeface="+mj-ea"/>
                <a:cs typeface="+mj-cs"/>
              </a:rPr>
              <a:t>Results Overview</a:t>
            </a:r>
            <a:endParaRPr lang="en-ZA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3F70FBC-F7A1-FFA1-7F3D-D447C24C292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98026286"/>
              </p:ext>
            </p:extLst>
          </p:nvPr>
        </p:nvGraphicFramePr>
        <p:xfrm>
          <a:off x="6164826" y="4128979"/>
          <a:ext cx="5908138" cy="207284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62358">
                  <a:extLst>
                    <a:ext uri="{9D8B030D-6E8A-4147-A177-3AD203B41FA5}">
                      <a16:colId xmlns:a16="http://schemas.microsoft.com/office/drawing/2014/main" val="3133489496"/>
                    </a:ext>
                  </a:extLst>
                </a:gridCol>
                <a:gridCol w="1962257">
                  <a:extLst>
                    <a:ext uri="{9D8B030D-6E8A-4147-A177-3AD203B41FA5}">
                      <a16:colId xmlns:a16="http://schemas.microsoft.com/office/drawing/2014/main" val="2386557477"/>
                    </a:ext>
                  </a:extLst>
                </a:gridCol>
                <a:gridCol w="2083523">
                  <a:extLst>
                    <a:ext uri="{9D8B030D-6E8A-4147-A177-3AD203B41FA5}">
                      <a16:colId xmlns:a16="http://schemas.microsoft.com/office/drawing/2014/main" val="3840897661"/>
                    </a:ext>
                  </a:extLst>
                </a:gridCol>
              </a:tblGrid>
              <a:tr h="63785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1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Sampling Method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100" kern="10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(Q13Age)</a:t>
                      </a: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1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Mean Estimate (Years)</a:t>
                      </a:r>
                      <a:endParaRPr lang="en-ZA" sz="11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1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95% Confidence Interval</a:t>
                      </a:r>
                      <a:endParaRPr lang="en-ZA" sz="1100" kern="10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1652598654"/>
                  </a:ext>
                </a:extLst>
              </a:tr>
              <a:tr h="35904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1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SRS</a:t>
                      </a:r>
                      <a:endParaRPr lang="en-ZA" sz="11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1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10.77</a:t>
                      </a:r>
                      <a:endParaRPr lang="en-ZA" sz="11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1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(10.66, 10.87)</a:t>
                      </a:r>
                      <a:endParaRPr lang="en-ZA" sz="1100" kern="10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1414636066"/>
                  </a:ext>
                </a:extLst>
              </a:tr>
              <a:tr h="35785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1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SRS WR</a:t>
                      </a:r>
                      <a:endParaRPr lang="en-ZA" sz="11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1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10.75</a:t>
                      </a:r>
                      <a:endParaRPr lang="en-ZA" sz="1100" kern="10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1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(10.64, 10.85)</a:t>
                      </a:r>
                      <a:endParaRPr lang="en-ZA" sz="11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2457850004"/>
                  </a:ext>
                </a:extLst>
              </a:tr>
              <a:tr h="35904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1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Stratified</a:t>
                      </a:r>
                      <a:endParaRPr lang="en-ZA" sz="11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1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10.73</a:t>
                      </a:r>
                      <a:endParaRPr lang="en-ZA" sz="1100" kern="10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1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(10.55, 10.88)</a:t>
                      </a:r>
                      <a:endParaRPr lang="en-ZA" sz="11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1379992738"/>
                  </a:ext>
                </a:extLst>
              </a:tr>
              <a:tr h="35904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1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Cluster</a:t>
                      </a:r>
                      <a:endParaRPr lang="en-ZA" sz="11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1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10.78</a:t>
                      </a:r>
                      <a:endParaRPr lang="en-ZA" sz="11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1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(9.95, 11.60)</a:t>
                      </a:r>
                      <a:endParaRPr lang="en-ZA" sz="1100" kern="10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284678462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3DD59DB-99E2-E62D-4534-0707A96145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9218211"/>
              </p:ext>
            </p:extLst>
          </p:nvPr>
        </p:nvGraphicFramePr>
        <p:xfrm>
          <a:off x="6164826" y="1890471"/>
          <a:ext cx="5908137" cy="209869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58296">
                  <a:extLst>
                    <a:ext uri="{9D8B030D-6E8A-4147-A177-3AD203B41FA5}">
                      <a16:colId xmlns:a16="http://schemas.microsoft.com/office/drawing/2014/main" val="3840424728"/>
                    </a:ext>
                  </a:extLst>
                </a:gridCol>
                <a:gridCol w="1956620">
                  <a:extLst>
                    <a:ext uri="{9D8B030D-6E8A-4147-A177-3AD203B41FA5}">
                      <a16:colId xmlns:a16="http://schemas.microsoft.com/office/drawing/2014/main" val="2920185796"/>
                    </a:ext>
                  </a:extLst>
                </a:gridCol>
                <a:gridCol w="2093221">
                  <a:extLst>
                    <a:ext uri="{9D8B030D-6E8A-4147-A177-3AD203B41FA5}">
                      <a16:colId xmlns:a16="http://schemas.microsoft.com/office/drawing/2014/main" val="3183280355"/>
                    </a:ext>
                  </a:extLst>
                </a:gridCol>
              </a:tblGrid>
              <a:tr h="63485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1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Sampling Method</a:t>
                      </a:r>
                      <a:endParaRPr lang="en-ZA" sz="1100" kern="100" dirty="0"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200" b="1" kern="10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ZA" sz="1200" b="1" kern="1200" dirty="0">
                          <a:solidFill>
                            <a:schemeClr val="lt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Q22Attend = 1)</a:t>
                      </a:r>
                      <a:endParaRPr lang="en-ZA" sz="1200" b="1" kern="10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1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Proportion Estimate</a:t>
                      </a:r>
                      <a:endParaRPr lang="en-ZA" sz="1100" kern="10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1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95% Confidence Interval</a:t>
                      </a:r>
                      <a:endParaRPr lang="en-ZA" sz="1100" kern="10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241532121"/>
                  </a:ext>
                </a:extLst>
              </a:tr>
              <a:tr h="36141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1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SRS</a:t>
                      </a:r>
                      <a:endParaRPr lang="en-ZA" sz="1100" kern="10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1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0.9769</a:t>
                      </a:r>
                      <a:endParaRPr lang="en-ZA" sz="11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1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(0.9718, 0.9820)</a:t>
                      </a:r>
                      <a:endParaRPr lang="en-ZA" sz="1100" kern="10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2156403955"/>
                  </a:ext>
                </a:extLst>
              </a:tr>
              <a:tr h="36141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1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SRS WR</a:t>
                      </a:r>
                      <a:endParaRPr lang="en-ZA" sz="11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1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0.9727</a:t>
                      </a:r>
                      <a:endParaRPr lang="en-ZA" sz="1100" kern="10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1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(0.9672, 0.9782)</a:t>
                      </a:r>
                      <a:endParaRPr lang="en-ZA" sz="1100" kern="10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3239723071"/>
                  </a:ext>
                </a:extLst>
              </a:tr>
              <a:tr h="36141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1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Stratified</a:t>
                      </a:r>
                      <a:endParaRPr lang="en-ZA" sz="11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1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0.9727</a:t>
                      </a:r>
                      <a:endParaRPr lang="en-ZA" sz="1100" kern="10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1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ZA" sz="11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0.9666</a:t>
                      </a:r>
                      <a:r>
                        <a:rPr lang="en-ZA" sz="1100" b="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n-ZA" sz="11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0.9780</a:t>
                      </a:r>
                      <a:r>
                        <a:rPr lang="en-ZA" sz="11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en-ZA" sz="1100" kern="10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2327527135"/>
                  </a:ext>
                </a:extLst>
              </a:tr>
              <a:tr h="36141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1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Cluster</a:t>
                      </a:r>
                      <a:endParaRPr lang="en-ZA" sz="1100" kern="10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1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0.9656</a:t>
                      </a:r>
                      <a:endParaRPr lang="en-ZA" sz="11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1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(0.9572, 0.9740)</a:t>
                      </a:r>
                      <a:endParaRPr lang="en-ZA" sz="1100" kern="10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3316003475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F403573-5AC2-2DA3-1320-33AD7B381A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6465852"/>
              </p:ext>
            </p:extLst>
          </p:nvPr>
        </p:nvGraphicFramePr>
        <p:xfrm>
          <a:off x="119037" y="4128979"/>
          <a:ext cx="5684094" cy="206533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15915">
                  <a:extLst>
                    <a:ext uri="{9D8B030D-6E8A-4147-A177-3AD203B41FA5}">
                      <a16:colId xmlns:a16="http://schemas.microsoft.com/office/drawing/2014/main" val="3289428501"/>
                    </a:ext>
                  </a:extLst>
                </a:gridCol>
                <a:gridCol w="1772479">
                  <a:extLst>
                    <a:ext uri="{9D8B030D-6E8A-4147-A177-3AD203B41FA5}">
                      <a16:colId xmlns:a16="http://schemas.microsoft.com/office/drawing/2014/main" val="4226127071"/>
                    </a:ext>
                  </a:extLst>
                </a:gridCol>
                <a:gridCol w="2095700">
                  <a:extLst>
                    <a:ext uri="{9D8B030D-6E8A-4147-A177-3AD203B41FA5}">
                      <a16:colId xmlns:a16="http://schemas.microsoft.com/office/drawing/2014/main" val="2987988512"/>
                    </a:ext>
                  </a:extLst>
                </a:gridCol>
              </a:tblGrid>
              <a:tr h="55283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1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Sampling Method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100" kern="10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ZA" sz="1100" kern="100" dirty="0" err="1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Child_Labour</a:t>
                      </a:r>
                      <a:r>
                        <a:rPr lang="en-ZA" sz="1100" kern="10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 = 1)</a:t>
                      </a: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1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Proportion Estimate</a:t>
                      </a:r>
                      <a:endParaRPr lang="en-ZA" sz="11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1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95% Confidence Interval</a:t>
                      </a:r>
                      <a:endParaRPr lang="en-ZA" sz="1100" kern="10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3589492619"/>
                  </a:ext>
                </a:extLst>
              </a:tr>
              <a:tr h="30930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1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SRS</a:t>
                      </a:r>
                      <a:endParaRPr lang="en-ZA" sz="11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1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0.0447</a:t>
                      </a:r>
                      <a:endParaRPr lang="en-ZA" sz="11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1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(0.0377, 0.0517)</a:t>
                      </a:r>
                      <a:endParaRPr lang="en-ZA" sz="11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3603870784"/>
                  </a:ext>
                </a:extLst>
              </a:tr>
              <a:tr h="30930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1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SRS WR</a:t>
                      </a:r>
                      <a:endParaRPr lang="en-ZA" sz="11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1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0.0426</a:t>
                      </a:r>
                      <a:endParaRPr lang="en-ZA" sz="11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1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(0.0357, 0.0494)</a:t>
                      </a:r>
                      <a:endParaRPr lang="en-ZA" sz="1100" kern="10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2321374920"/>
                  </a:ext>
                </a:extLst>
              </a:tr>
              <a:tr h="30930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1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Stratified</a:t>
                      </a:r>
                      <a:endParaRPr lang="en-ZA" sz="11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1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0.0482</a:t>
                      </a:r>
                      <a:endParaRPr lang="en-ZA" sz="11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1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(0.0382, 0.0583)</a:t>
                      </a:r>
                      <a:endParaRPr lang="en-ZA" sz="11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2227371413"/>
                  </a:ext>
                </a:extLst>
              </a:tr>
              <a:tr h="30930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1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Cluster</a:t>
                      </a:r>
                      <a:endParaRPr lang="en-ZA" sz="11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1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0.0078</a:t>
                      </a:r>
                      <a:endParaRPr lang="en-ZA" sz="11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1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(0.0037, 0.0118)</a:t>
                      </a:r>
                      <a:endParaRPr lang="en-ZA" sz="1100" kern="10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3327093017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F2692B6-8A5D-E201-21EB-6811051FA2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8956881"/>
              </p:ext>
            </p:extLst>
          </p:nvPr>
        </p:nvGraphicFramePr>
        <p:xfrm>
          <a:off x="119037" y="1890472"/>
          <a:ext cx="5684095" cy="208051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39682">
                  <a:extLst>
                    <a:ext uri="{9D8B030D-6E8A-4147-A177-3AD203B41FA5}">
                      <a16:colId xmlns:a16="http://schemas.microsoft.com/office/drawing/2014/main" val="513307979"/>
                    </a:ext>
                  </a:extLst>
                </a:gridCol>
                <a:gridCol w="1769807">
                  <a:extLst>
                    <a:ext uri="{9D8B030D-6E8A-4147-A177-3AD203B41FA5}">
                      <a16:colId xmlns:a16="http://schemas.microsoft.com/office/drawing/2014/main" val="2416413955"/>
                    </a:ext>
                  </a:extLst>
                </a:gridCol>
                <a:gridCol w="2074606">
                  <a:extLst>
                    <a:ext uri="{9D8B030D-6E8A-4147-A177-3AD203B41FA5}">
                      <a16:colId xmlns:a16="http://schemas.microsoft.com/office/drawing/2014/main" val="1560799529"/>
                    </a:ext>
                  </a:extLst>
                </a:gridCol>
              </a:tblGrid>
              <a:tr h="57009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1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Sampling Method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200" b="1" kern="10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ZA" sz="1200" b="1" kern="100" dirty="0" err="1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TotalHours</a:t>
                      </a:r>
                      <a:r>
                        <a:rPr lang="en-ZA" sz="1200" b="1" kern="10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1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Mean Estimate (Hours)</a:t>
                      </a:r>
                      <a:endParaRPr lang="en-ZA" sz="1100" kern="10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1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95% Confidence Interval</a:t>
                      </a:r>
                      <a:endParaRPr lang="en-ZA" sz="1100" kern="10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708214199"/>
                  </a:ext>
                </a:extLst>
              </a:tr>
              <a:tr h="31154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1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SRS</a:t>
                      </a:r>
                      <a:endParaRPr lang="en-ZA" sz="11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1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3.94</a:t>
                      </a:r>
                      <a:endParaRPr lang="en-ZA" sz="1100" kern="10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1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(3.49, 4.39)</a:t>
                      </a:r>
                      <a:endParaRPr lang="en-ZA" sz="1100" kern="10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1077969292"/>
                  </a:ext>
                </a:extLst>
              </a:tr>
              <a:tr h="31154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1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SRS WR</a:t>
                      </a:r>
                      <a:endParaRPr lang="en-ZA" sz="11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1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4.18</a:t>
                      </a:r>
                      <a:endParaRPr lang="en-ZA" sz="11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1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(3.66, 4.70)</a:t>
                      </a:r>
                      <a:endParaRPr lang="en-ZA" sz="1100" kern="10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3756751685"/>
                  </a:ext>
                </a:extLst>
              </a:tr>
              <a:tr h="24073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1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Stratified</a:t>
                      </a:r>
                      <a:endParaRPr lang="en-ZA" sz="11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1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4.23</a:t>
                      </a:r>
                      <a:endParaRPr lang="en-ZA" sz="1100" kern="10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11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ZA" sz="1100" b="0" i="0" dirty="0">
                          <a:effectLst/>
                          <a:latin typeface="Arial" panose="020B0604020202020204" pitchFamily="34" charset="0"/>
                        </a:rPr>
                        <a:t>3.69, 4.78</a:t>
                      </a:r>
                      <a:r>
                        <a:rPr lang="en-ZA" sz="11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en-ZA" sz="1100" kern="10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1187218148"/>
                  </a:ext>
                </a:extLst>
              </a:tr>
              <a:tr h="31154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1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Cluster</a:t>
                      </a:r>
                      <a:endParaRPr lang="en-ZA" sz="1100" kern="10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1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2.82</a:t>
                      </a:r>
                      <a:endParaRPr lang="en-ZA" sz="1100" kern="10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1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(1.18, 4.47)</a:t>
                      </a:r>
                      <a:endParaRPr lang="en-ZA" sz="1100" kern="10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3035103243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6E6E0883-0DD2-B4FF-2462-BE179701569B}"/>
              </a:ext>
            </a:extLst>
          </p:cNvPr>
          <p:cNvSpPr txBox="1"/>
          <p:nvPr/>
        </p:nvSpPr>
        <p:spPr>
          <a:xfrm>
            <a:off x="1460106" y="1207488"/>
            <a:ext cx="99895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dirty="0">
                <a:latin typeface="Aharoni" panose="02010803020104030203" pitchFamily="2" charset="-79"/>
                <a:cs typeface="Aharoni" panose="02010803020104030203" pitchFamily="2" charset="-79"/>
              </a:rPr>
              <a:t>Across the four sampling methods, the estimated results were largely consistent.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9196419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5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250"/>
                            </p:stCondLst>
                            <p:childTnLst>
                              <p:par>
                                <p:cTn id="2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B4A5F-FE8F-7B66-B4AF-903666F1AD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107093"/>
            <a:ext cx="9603275" cy="660487"/>
          </a:xfrm>
        </p:spPr>
        <p:txBody>
          <a:bodyPr/>
          <a:lstStyle/>
          <a:p>
            <a:r>
              <a:rPr lang="en-ZA" b="1" dirty="0">
                <a:solidFill>
                  <a:srgbClr val="003366"/>
                </a:solidFill>
              </a:rPr>
              <a:t>Results Overview</a:t>
            </a:r>
            <a:endParaRPr lang="en-ZA" dirty="0"/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535F5784-1C76-B2D0-58AC-67B33DC644C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8058313"/>
              </p:ext>
            </p:extLst>
          </p:nvPr>
        </p:nvGraphicFramePr>
        <p:xfrm>
          <a:off x="147484" y="1931933"/>
          <a:ext cx="5879691" cy="210169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959897">
                  <a:extLst>
                    <a:ext uri="{9D8B030D-6E8A-4147-A177-3AD203B41FA5}">
                      <a16:colId xmlns:a16="http://schemas.microsoft.com/office/drawing/2014/main" val="635011147"/>
                    </a:ext>
                  </a:extLst>
                </a:gridCol>
                <a:gridCol w="2051664">
                  <a:extLst>
                    <a:ext uri="{9D8B030D-6E8A-4147-A177-3AD203B41FA5}">
                      <a16:colId xmlns:a16="http://schemas.microsoft.com/office/drawing/2014/main" val="3725703567"/>
                    </a:ext>
                  </a:extLst>
                </a:gridCol>
                <a:gridCol w="1868130">
                  <a:extLst>
                    <a:ext uri="{9D8B030D-6E8A-4147-A177-3AD203B41FA5}">
                      <a16:colId xmlns:a16="http://schemas.microsoft.com/office/drawing/2014/main" val="4274987575"/>
                    </a:ext>
                  </a:extLst>
                </a:gridCol>
              </a:tblGrid>
              <a:tr h="692899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ZA" sz="1200" b="1" dirty="0">
                          <a:effectLst/>
                        </a:rPr>
                        <a:t>Sampling Method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1200" b="1" dirty="0">
                          <a:effectLst/>
                        </a:rPr>
                        <a:t>(Q13Age)</a:t>
                      </a:r>
                      <a:endParaRPr lang="en-ZA" sz="1200" b="1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ZA" sz="1200" b="1" dirty="0">
                          <a:effectLst/>
                        </a:rPr>
                        <a:t>Total Estimate</a:t>
                      </a:r>
                      <a:endParaRPr lang="en-ZA" sz="1200" b="1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sz="1200" b="1" dirty="0">
                          <a:effectLst/>
                        </a:rPr>
                        <a:t>95% Confidence Interval for Total</a:t>
                      </a:r>
                      <a:endParaRPr lang="en-US" sz="1200" b="1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0" marR="101600" marT="63500" marB="63500" anchor="ctr"/>
                </a:tc>
                <a:extLst>
                  <a:ext uri="{0D108BD9-81ED-4DB2-BD59-A6C34878D82A}">
                    <a16:rowId xmlns:a16="http://schemas.microsoft.com/office/drawing/2014/main" val="1409641473"/>
                  </a:ext>
                </a:extLst>
              </a:tr>
              <a:tr h="35220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ZA" sz="1200" b="1" dirty="0">
                          <a:effectLst/>
                        </a:rPr>
                        <a:t>SRS</a:t>
                      </a:r>
                      <a:endParaRPr lang="en-ZA" sz="1200" b="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ZA" sz="1200" b="0" dirty="0">
                          <a:effectLst/>
                        </a:rPr>
                        <a:t>143,600</a:t>
                      </a:r>
                      <a:endParaRPr lang="en-ZA" sz="1200" b="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ZA" sz="1200" b="0" dirty="0">
                          <a:effectLst/>
                        </a:rPr>
                        <a:t>(142,17, 145,03)</a:t>
                      </a:r>
                      <a:endParaRPr lang="en-ZA" sz="1200" b="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0" marT="63500" marB="63500" anchor="ctr"/>
                </a:tc>
                <a:extLst>
                  <a:ext uri="{0D108BD9-81ED-4DB2-BD59-A6C34878D82A}">
                    <a16:rowId xmlns:a16="http://schemas.microsoft.com/office/drawing/2014/main" val="2784686804"/>
                  </a:ext>
                </a:extLst>
              </a:tr>
              <a:tr h="35220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ZA" sz="1200" b="1">
                          <a:effectLst/>
                        </a:rPr>
                        <a:t>SRS WR</a:t>
                      </a:r>
                      <a:endParaRPr lang="en-ZA" sz="1200" b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ZA" sz="1200" b="0" dirty="0">
                          <a:effectLst/>
                        </a:rPr>
                        <a:t>143,300</a:t>
                      </a:r>
                      <a:endParaRPr lang="en-ZA" sz="1200" b="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ZA" sz="1200" b="0" dirty="0">
                          <a:effectLst/>
                        </a:rPr>
                        <a:t>(141,89, 144,71)</a:t>
                      </a:r>
                      <a:endParaRPr lang="en-ZA" sz="1200" b="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0" marT="63500" marB="63500" anchor="ctr"/>
                </a:tc>
                <a:extLst>
                  <a:ext uri="{0D108BD9-81ED-4DB2-BD59-A6C34878D82A}">
                    <a16:rowId xmlns:a16="http://schemas.microsoft.com/office/drawing/2014/main" val="1679410467"/>
                  </a:ext>
                </a:extLst>
              </a:tr>
              <a:tr h="35220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ZA" sz="1200" b="1" dirty="0">
                          <a:effectLst/>
                        </a:rPr>
                        <a:t>Stratified</a:t>
                      </a:r>
                      <a:endParaRPr lang="en-ZA" sz="1200" b="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ZA" sz="1200" b="0" dirty="0">
                          <a:effectLst/>
                        </a:rPr>
                        <a:t>142,900</a:t>
                      </a:r>
                      <a:endParaRPr lang="en-ZA" sz="1200" b="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ZA" sz="1200" b="0" dirty="0">
                          <a:effectLst/>
                        </a:rPr>
                        <a:t>(140,65, 145,15)</a:t>
                      </a:r>
                      <a:endParaRPr lang="en-ZA" sz="1200" b="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0" marT="63500" marB="63500" anchor="ctr"/>
                </a:tc>
                <a:extLst>
                  <a:ext uri="{0D108BD9-81ED-4DB2-BD59-A6C34878D82A}">
                    <a16:rowId xmlns:a16="http://schemas.microsoft.com/office/drawing/2014/main" val="2926793350"/>
                  </a:ext>
                </a:extLst>
              </a:tr>
              <a:tr h="35220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ZA" sz="1200" b="1" dirty="0">
                          <a:effectLst/>
                        </a:rPr>
                        <a:t>Cluster</a:t>
                      </a:r>
                      <a:endParaRPr lang="en-ZA" sz="1200" b="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ZA" sz="1200" b="0" dirty="0">
                          <a:effectLst/>
                        </a:rPr>
                        <a:t>87,336</a:t>
                      </a:r>
                      <a:endParaRPr lang="en-ZA" sz="1200" b="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ZA" sz="1200" b="0" dirty="0">
                          <a:effectLst/>
                        </a:rPr>
                        <a:t>(66,29, 108,38)</a:t>
                      </a:r>
                      <a:endParaRPr lang="en-ZA" sz="1200" b="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0" marT="63500" marB="63500" anchor="ctr"/>
                </a:tc>
                <a:extLst>
                  <a:ext uri="{0D108BD9-81ED-4DB2-BD59-A6C34878D82A}">
                    <a16:rowId xmlns:a16="http://schemas.microsoft.com/office/drawing/2014/main" val="810054817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BCC2A06A-5C31-D1B6-2D75-2FDF2BC828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7143692"/>
              </p:ext>
            </p:extLst>
          </p:nvPr>
        </p:nvGraphicFramePr>
        <p:xfrm>
          <a:off x="6174656" y="1931933"/>
          <a:ext cx="5869860" cy="212931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947076">
                  <a:extLst>
                    <a:ext uri="{9D8B030D-6E8A-4147-A177-3AD203B41FA5}">
                      <a16:colId xmlns:a16="http://schemas.microsoft.com/office/drawing/2014/main" val="4094395864"/>
                    </a:ext>
                  </a:extLst>
                </a:gridCol>
                <a:gridCol w="1966308">
                  <a:extLst>
                    <a:ext uri="{9D8B030D-6E8A-4147-A177-3AD203B41FA5}">
                      <a16:colId xmlns:a16="http://schemas.microsoft.com/office/drawing/2014/main" val="3216296049"/>
                    </a:ext>
                  </a:extLst>
                </a:gridCol>
                <a:gridCol w="1956476">
                  <a:extLst>
                    <a:ext uri="{9D8B030D-6E8A-4147-A177-3AD203B41FA5}">
                      <a16:colId xmlns:a16="http://schemas.microsoft.com/office/drawing/2014/main" val="2887950145"/>
                    </a:ext>
                  </a:extLst>
                </a:gridCol>
              </a:tblGrid>
              <a:tr h="687054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ZA" sz="12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Sampling Method</a:t>
                      </a:r>
                    </a:p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ZA" sz="12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ZA" sz="1200" b="1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TotalHours</a:t>
                      </a:r>
                      <a:r>
                        <a:rPr lang="en-ZA" sz="12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 </a:t>
                      </a: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ZA" sz="12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Total Estimate</a:t>
                      </a: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sz="12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95% Confidence Interval for Total</a:t>
                      </a:r>
                    </a:p>
                  </a:txBody>
                  <a:tcPr marL="101600" marR="101600" marT="63500" marB="63500" anchor="ctr"/>
                </a:tc>
                <a:extLst>
                  <a:ext uri="{0D108BD9-81ED-4DB2-BD59-A6C34878D82A}">
                    <a16:rowId xmlns:a16="http://schemas.microsoft.com/office/drawing/2014/main" val="183631361"/>
                  </a:ext>
                </a:extLst>
              </a:tr>
              <a:tr h="35341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12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SRS</a:t>
                      </a:r>
                      <a:endParaRPr lang="en-ZA" sz="1200" b="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1200" b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9,888</a:t>
                      </a:r>
                    </a:p>
                  </a:txBody>
                  <a:tcPr marL="101600" marT="63500" marB="635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1200" b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(8,76,11,02)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0216936"/>
                  </a:ext>
                </a:extLst>
              </a:tr>
              <a:tr h="353418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ZA" sz="1200" b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SRS WR</a:t>
                      </a:r>
                      <a:endParaRPr lang="en-ZA" sz="1200" b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ZA" sz="1200" b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9,876</a:t>
                      </a: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ZA" sz="1200" b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(8,64,11,11)</a:t>
                      </a:r>
                    </a:p>
                  </a:txBody>
                  <a:tcPr marL="101600" marT="63500" marB="63500" anchor="ctr"/>
                </a:tc>
                <a:extLst>
                  <a:ext uri="{0D108BD9-81ED-4DB2-BD59-A6C34878D82A}">
                    <a16:rowId xmlns:a16="http://schemas.microsoft.com/office/drawing/2014/main" val="344394180"/>
                  </a:ext>
                </a:extLst>
              </a:tr>
              <a:tr h="367712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ZA" sz="1200" b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Stratified</a:t>
                      </a:r>
                      <a:endParaRPr lang="en-ZA" sz="1200" b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ZA" sz="1200" b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10,546</a:t>
                      </a: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ZA" sz="1200" b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(8,71,12,38)</a:t>
                      </a:r>
                    </a:p>
                  </a:txBody>
                  <a:tcPr marL="101600" marT="63500" marB="63500" anchor="ctr"/>
                </a:tc>
                <a:extLst>
                  <a:ext uri="{0D108BD9-81ED-4DB2-BD59-A6C34878D82A}">
                    <a16:rowId xmlns:a16="http://schemas.microsoft.com/office/drawing/2014/main" val="4195225942"/>
                  </a:ext>
                </a:extLst>
              </a:tr>
              <a:tr h="367712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ZA" sz="12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Cluster</a:t>
                      </a:r>
                      <a:endParaRPr lang="en-ZA" sz="1200" b="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ZA" sz="1200" b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1,638</a:t>
                      </a: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ZA" sz="1200" b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(8,54,11,82)</a:t>
                      </a:r>
                    </a:p>
                  </a:txBody>
                  <a:tcPr marL="101600" marT="63500" marB="63500" anchor="ctr"/>
                </a:tc>
                <a:extLst>
                  <a:ext uri="{0D108BD9-81ED-4DB2-BD59-A6C34878D82A}">
                    <a16:rowId xmlns:a16="http://schemas.microsoft.com/office/drawing/2014/main" val="724592351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161A058D-348F-FD1A-DAF2-78699E3CFA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7325715"/>
              </p:ext>
            </p:extLst>
          </p:nvPr>
        </p:nvGraphicFramePr>
        <p:xfrm>
          <a:off x="147483" y="4166890"/>
          <a:ext cx="5879691" cy="195485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959897">
                  <a:extLst>
                    <a:ext uri="{9D8B030D-6E8A-4147-A177-3AD203B41FA5}">
                      <a16:colId xmlns:a16="http://schemas.microsoft.com/office/drawing/2014/main" val="1542451647"/>
                    </a:ext>
                  </a:extLst>
                </a:gridCol>
                <a:gridCol w="1959897">
                  <a:extLst>
                    <a:ext uri="{9D8B030D-6E8A-4147-A177-3AD203B41FA5}">
                      <a16:colId xmlns:a16="http://schemas.microsoft.com/office/drawing/2014/main" val="2613690091"/>
                    </a:ext>
                  </a:extLst>
                </a:gridCol>
                <a:gridCol w="1959897">
                  <a:extLst>
                    <a:ext uri="{9D8B030D-6E8A-4147-A177-3AD203B41FA5}">
                      <a16:colId xmlns:a16="http://schemas.microsoft.com/office/drawing/2014/main" val="1760172022"/>
                    </a:ext>
                  </a:extLst>
                </a:gridCol>
              </a:tblGrid>
              <a:tr h="519168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ZA" sz="12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Sampling Method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12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(Q22Attend)</a:t>
                      </a: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ZA" sz="12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Total Estimate</a:t>
                      </a: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sz="12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95% Confidence Interval for Total</a:t>
                      </a:r>
                    </a:p>
                  </a:txBody>
                  <a:tcPr marL="101600" marR="101600" marT="63500" marB="63500" anchor="ctr"/>
                </a:tc>
                <a:extLst>
                  <a:ext uri="{0D108BD9-81ED-4DB2-BD59-A6C34878D82A}">
                    <a16:rowId xmlns:a16="http://schemas.microsoft.com/office/drawing/2014/main" val="291901220"/>
                  </a:ext>
                </a:extLst>
              </a:tr>
              <a:tr h="32740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12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SRS</a:t>
                      </a:r>
                      <a:endParaRPr lang="en-ZA" sz="1200" b="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1200" b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13,032</a:t>
                      </a:r>
                    </a:p>
                  </a:txBody>
                  <a:tcPr marL="101600" marT="63500" marB="635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1200" b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(12,96,13,09)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1193511"/>
                  </a:ext>
                </a:extLst>
              </a:tr>
              <a:tr h="327408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ZA" sz="1200" b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SRS WR</a:t>
                      </a:r>
                      <a:endParaRPr lang="en-ZA" sz="1200" b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ZA" sz="1200" b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12,970</a:t>
                      </a: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ZA" sz="1200" b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(12,89,13,04)</a:t>
                      </a:r>
                    </a:p>
                  </a:txBody>
                  <a:tcPr marL="101600" marT="63500" marB="63500" anchor="ctr"/>
                </a:tc>
                <a:extLst>
                  <a:ext uri="{0D108BD9-81ED-4DB2-BD59-A6C34878D82A}">
                    <a16:rowId xmlns:a16="http://schemas.microsoft.com/office/drawing/2014/main" val="3794839594"/>
                  </a:ext>
                </a:extLst>
              </a:tr>
              <a:tr h="327408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ZA" sz="1200" b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Stratified</a:t>
                      </a:r>
                      <a:endParaRPr lang="en-ZA" sz="1200" b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ZA" sz="1200" b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12,922</a:t>
                      </a: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ZA" sz="1200" b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(12,81,13,03)</a:t>
                      </a:r>
                    </a:p>
                  </a:txBody>
                  <a:tcPr marL="101600" marT="63500" marB="63500" anchor="ctr"/>
                </a:tc>
                <a:extLst>
                  <a:ext uri="{0D108BD9-81ED-4DB2-BD59-A6C34878D82A}">
                    <a16:rowId xmlns:a16="http://schemas.microsoft.com/office/drawing/2014/main" val="2136199452"/>
                  </a:ext>
                </a:extLst>
              </a:tr>
              <a:tr h="327408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ZA" sz="12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Cluster</a:t>
                      </a:r>
                      <a:endParaRPr lang="en-ZA" sz="1200" b="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ZA" sz="1200" b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7,826</a:t>
                      </a: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ZA" sz="1200" b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(7,76,7,89)</a:t>
                      </a:r>
                    </a:p>
                  </a:txBody>
                  <a:tcPr marL="101600" marT="63500" marB="63500" anchor="ctr"/>
                </a:tc>
                <a:extLst>
                  <a:ext uri="{0D108BD9-81ED-4DB2-BD59-A6C34878D82A}">
                    <a16:rowId xmlns:a16="http://schemas.microsoft.com/office/drawing/2014/main" val="3927965276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CE1EE41E-567D-3445-93FF-0665D345C2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3431288"/>
              </p:ext>
            </p:extLst>
          </p:nvPr>
        </p:nvGraphicFramePr>
        <p:xfrm>
          <a:off x="6164828" y="4165560"/>
          <a:ext cx="5869860" cy="195618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956620">
                  <a:extLst>
                    <a:ext uri="{9D8B030D-6E8A-4147-A177-3AD203B41FA5}">
                      <a16:colId xmlns:a16="http://schemas.microsoft.com/office/drawing/2014/main" val="1853890127"/>
                    </a:ext>
                  </a:extLst>
                </a:gridCol>
                <a:gridCol w="1956620">
                  <a:extLst>
                    <a:ext uri="{9D8B030D-6E8A-4147-A177-3AD203B41FA5}">
                      <a16:colId xmlns:a16="http://schemas.microsoft.com/office/drawing/2014/main" val="2296122242"/>
                    </a:ext>
                  </a:extLst>
                </a:gridCol>
                <a:gridCol w="1956620">
                  <a:extLst>
                    <a:ext uri="{9D8B030D-6E8A-4147-A177-3AD203B41FA5}">
                      <a16:colId xmlns:a16="http://schemas.microsoft.com/office/drawing/2014/main" val="2989467359"/>
                    </a:ext>
                  </a:extLst>
                </a:gridCol>
              </a:tblGrid>
              <a:tr h="58534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ZA" sz="12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Sampling Method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12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ZA" sz="1200" b="1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Child_labour</a:t>
                      </a:r>
                      <a:r>
                        <a:rPr lang="en-ZA" sz="12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ZA" sz="12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Total Estimate</a:t>
                      </a: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sz="12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95% Confidence Interval for Total</a:t>
                      </a:r>
                    </a:p>
                  </a:txBody>
                  <a:tcPr marL="101600" marR="101600" marT="63500" marB="63500" anchor="ctr"/>
                </a:tc>
                <a:extLst>
                  <a:ext uri="{0D108BD9-81ED-4DB2-BD59-A6C34878D82A}">
                    <a16:rowId xmlns:a16="http://schemas.microsoft.com/office/drawing/2014/main" val="163604790"/>
                  </a:ext>
                </a:extLst>
              </a:tr>
              <a:tr h="32564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12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SRS</a:t>
                      </a:r>
                      <a:endParaRPr lang="en-ZA" sz="1200" b="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1200" b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596</a:t>
                      </a:r>
                    </a:p>
                  </a:txBody>
                  <a:tcPr marL="101600" marT="63500" marB="635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1200" b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(503, 689)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6210789"/>
                  </a:ext>
                </a:extLst>
              </a:tr>
              <a:tr h="325646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ZA" sz="1200" b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SRS WR</a:t>
                      </a:r>
                      <a:endParaRPr lang="en-ZA" sz="1200" b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ZA" sz="1200" b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568</a:t>
                      </a: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ZA" sz="1200" b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(476, 659)</a:t>
                      </a:r>
                    </a:p>
                  </a:txBody>
                  <a:tcPr marL="101600" marT="63500" marB="63500" anchor="ctr"/>
                </a:tc>
                <a:extLst>
                  <a:ext uri="{0D108BD9-81ED-4DB2-BD59-A6C34878D82A}">
                    <a16:rowId xmlns:a16="http://schemas.microsoft.com/office/drawing/2014/main" val="4181822773"/>
                  </a:ext>
                </a:extLst>
              </a:tr>
              <a:tr h="325646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ZA" sz="12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Stratified</a:t>
                      </a:r>
                      <a:endParaRPr lang="en-ZA" sz="1200" b="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ZA" sz="1200" b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643</a:t>
                      </a: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ZA" sz="1200" b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(509, 777)</a:t>
                      </a:r>
                    </a:p>
                  </a:txBody>
                  <a:tcPr marL="101600" marT="63500" marB="63500" anchor="ctr"/>
                </a:tc>
                <a:extLst>
                  <a:ext uri="{0D108BD9-81ED-4DB2-BD59-A6C34878D82A}">
                    <a16:rowId xmlns:a16="http://schemas.microsoft.com/office/drawing/2014/main" val="2053082739"/>
                  </a:ext>
                </a:extLst>
              </a:tr>
              <a:tr h="325646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ZA" sz="12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Cluster</a:t>
                      </a:r>
                      <a:endParaRPr lang="en-ZA" sz="1200" b="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ZA" sz="1200" b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104</a:t>
                      </a: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ZA" sz="1200" b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(49, 159)</a:t>
                      </a:r>
                    </a:p>
                  </a:txBody>
                  <a:tcPr marL="101600" marT="63500" marB="63500" anchor="ctr"/>
                </a:tc>
                <a:extLst>
                  <a:ext uri="{0D108BD9-81ED-4DB2-BD59-A6C34878D82A}">
                    <a16:rowId xmlns:a16="http://schemas.microsoft.com/office/drawing/2014/main" val="13470109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572737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rPr dirty="0"/>
              <a:t>Detailed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1579" y="2015732"/>
            <a:ext cx="8537995" cy="3450613"/>
          </a:xfrm>
        </p:spPr>
        <p:txBody>
          <a:bodyPr>
            <a:noAutofit/>
          </a:bodyPr>
          <a:lstStyle/>
          <a:p>
            <a:r>
              <a:rPr lang="en-ZA" sz="1600" b="1" dirty="0">
                <a:latin typeface="Arial" panose="020B0604020202020204" pitchFamily="34" charset="0"/>
                <a:cs typeface="Arial" panose="020B0604020202020204" pitchFamily="34" charset="0"/>
              </a:rPr>
              <a:t>School Attendance</a:t>
            </a:r>
            <a:endParaRPr lang="en-ZA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ZA" sz="1600" b="1" dirty="0">
                <a:latin typeface="Arial" panose="020B0604020202020204" pitchFamily="34" charset="0"/>
                <a:cs typeface="Arial" panose="020B0604020202020204" pitchFamily="34" charset="0"/>
              </a:rPr>
              <a:t>Result:</a:t>
            </a:r>
            <a:r>
              <a:rPr lang="en-ZA" sz="1600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</a:p>
          <a:p>
            <a:pPr lvl="2"/>
            <a:r>
              <a:rPr lang="en-ZA" dirty="0">
                <a:latin typeface="Arial" panose="020B0604020202020204" pitchFamily="34" charset="0"/>
                <a:cs typeface="Arial" panose="020B0604020202020204" pitchFamily="34" charset="0"/>
              </a:rPr>
              <a:t>Average age ~10.76 in attendance.</a:t>
            </a:r>
          </a:p>
          <a:p>
            <a:pPr lvl="2"/>
            <a:r>
              <a:rPr lang="en-ZA" dirty="0">
                <a:latin typeface="Arial" panose="020B0604020202020204" pitchFamily="34" charset="0"/>
                <a:cs typeface="Arial" panose="020B0604020202020204" pitchFamily="34" charset="0"/>
              </a:rPr>
              <a:t>Over 96.5% of children are in school.</a:t>
            </a:r>
          </a:p>
          <a:p>
            <a:pPr lvl="1"/>
            <a:r>
              <a:rPr lang="en-ZA" sz="1600" b="1" dirty="0">
                <a:latin typeface="Arial" panose="020B0604020202020204" pitchFamily="34" charset="0"/>
                <a:cs typeface="Arial" panose="020B0604020202020204" pitchFamily="34" charset="0"/>
              </a:rPr>
              <a:t>Best Method:</a:t>
            </a:r>
            <a:r>
              <a:rPr lang="en-ZA" sz="1600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n-ZA" sz="1600" b="1" dirty="0">
                <a:latin typeface="Arial" panose="020B0604020202020204" pitchFamily="34" charset="0"/>
                <a:cs typeface="Arial" panose="020B0604020202020204" pitchFamily="34" charset="0"/>
              </a:rPr>
              <a:t>SRS</a:t>
            </a:r>
            <a:r>
              <a:rPr lang="en-ZA" sz="1600" dirty="0">
                <a:latin typeface="Arial" panose="020B0604020202020204" pitchFamily="34" charset="0"/>
                <a:cs typeface="Arial" panose="020B0604020202020204" pitchFamily="34" charset="0"/>
              </a:rPr>
              <a:t> gave the most precise estimate (narrowest CI: 97.2% - 98.2%).</a:t>
            </a:r>
          </a:p>
          <a:p>
            <a:r>
              <a:rPr lang="en-ZA" sz="1600" b="1" dirty="0">
                <a:latin typeface="Arial" panose="020B0604020202020204" pitchFamily="34" charset="0"/>
                <a:cs typeface="Arial" panose="020B0604020202020204" pitchFamily="34" charset="0"/>
              </a:rPr>
              <a:t>Varying Child Labour Estimates</a:t>
            </a:r>
            <a:endParaRPr lang="en-ZA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ZA" sz="1600" dirty="0">
                <a:latin typeface="Arial" panose="020B0604020202020204" pitchFamily="34" charset="0"/>
                <a:cs typeface="Arial" panose="020B0604020202020204" pitchFamily="34" charset="0"/>
              </a:rPr>
              <a:t>Estimates vary by method.</a:t>
            </a:r>
          </a:p>
          <a:p>
            <a:pPr lvl="1"/>
            <a:r>
              <a:rPr lang="en-ZA" sz="1600" dirty="0">
                <a:latin typeface="Arial" panose="020B0604020202020204" pitchFamily="34" charset="0"/>
                <a:cs typeface="Arial" panose="020B0604020202020204" pitchFamily="34" charset="0"/>
              </a:rPr>
              <a:t>SRS/Stratified: ~4.5%</a:t>
            </a:r>
          </a:p>
          <a:p>
            <a:pPr lvl="1"/>
            <a:r>
              <a:rPr lang="en-ZA" sz="1600" dirty="0">
                <a:latin typeface="Arial" panose="020B0604020202020204" pitchFamily="34" charset="0"/>
                <a:cs typeface="Arial" panose="020B0604020202020204" pitchFamily="34" charset="0"/>
              </a:rPr>
              <a:t>Cluster: </a:t>
            </a:r>
            <a:r>
              <a:rPr lang="en-ZA" sz="1600" b="1" dirty="0">
                <a:latin typeface="Arial" panose="020B0604020202020204" pitchFamily="34" charset="0"/>
                <a:cs typeface="Arial" panose="020B0604020202020204" pitchFamily="34" charset="0"/>
              </a:rPr>
              <a:t>0.78%</a:t>
            </a:r>
            <a:r>
              <a:rPr lang="en-ZA" sz="1600" dirty="0">
                <a:latin typeface="Arial" panose="020B0604020202020204" pitchFamily="34" charset="0"/>
                <a:cs typeface="Arial" panose="020B0604020202020204" pitchFamily="34" charset="0"/>
              </a:rPr>
              <a:t> (A clear outlier)</a:t>
            </a:r>
          </a:p>
          <a:p>
            <a:pPr lvl="0"/>
            <a:r>
              <a:rPr lang="en-ZA" sz="1600" b="1" dirty="0">
                <a:latin typeface="Arial" panose="020B0604020202020204" pitchFamily="34" charset="0"/>
                <a:cs typeface="Arial" panose="020B0604020202020204" pitchFamily="34" charset="0"/>
              </a:rPr>
              <a:t>Implication:</a:t>
            </a:r>
            <a:r>
              <a:rPr lang="en-ZA" sz="1600" dirty="0">
                <a:latin typeface="Arial" panose="020B0604020202020204" pitchFamily="34" charset="0"/>
                <a:cs typeface="Arial" panose="020B0604020202020204" pitchFamily="34" charset="0"/>
              </a:rPr>
              <a:t> Choice of method drastically affects the result. The cluster sample is likely biased..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9C51009-A09A-4689-8E6C-F8FC99E6A8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4476" y="1600199"/>
            <a:ext cx="3539266" cy="4297680"/>
          </a:xfrm>
        </p:spPr>
        <p:txBody>
          <a:bodyPr anchor="ctr">
            <a:norm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rPr lang="en-ZA" sz="3300" dirty="0"/>
              <a:t>Conclusion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EC65442-F244-409C-BF44-C5D6472E81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2148839"/>
            <a:ext cx="0" cy="320040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24851" y="1600199"/>
            <a:ext cx="6130003" cy="4297680"/>
          </a:xfrm>
        </p:spPr>
        <p:txBody>
          <a:bodyPr anchor="ctr">
            <a:normAutofit lnSpcReduction="10000"/>
          </a:bodyPr>
          <a:lstStyle/>
          <a:p>
            <a:pPr lvl="0"/>
            <a:r>
              <a:rPr lang="en-ZA" b="1" dirty="0">
                <a:latin typeface="Arial" panose="020B0604020202020204" pitchFamily="34" charset="0"/>
                <a:cs typeface="Arial" panose="020B0604020202020204" pitchFamily="34" charset="0"/>
              </a:rPr>
              <a:t>What we found:</a:t>
            </a:r>
            <a:r>
              <a:rPr lang="en-ZA" dirty="0">
                <a:latin typeface="Arial" panose="020B0604020202020204" pitchFamily="34" charset="0"/>
                <a:cs typeface="Arial" panose="020B0604020202020204" pitchFamily="34" charset="0"/>
              </a:rPr>
              <a:t> School attendance is high and Child labour is at a low rate. </a:t>
            </a:r>
          </a:p>
          <a:p>
            <a:pPr lvl="0"/>
            <a:r>
              <a:rPr lang="en-ZA" b="1" dirty="0">
                <a:latin typeface="Arial" panose="020B0604020202020204" pitchFamily="34" charset="0"/>
                <a:cs typeface="Arial" panose="020B0604020202020204" pitchFamily="34" charset="0"/>
              </a:rPr>
              <a:t>Which method is best?</a:t>
            </a:r>
            <a:r>
              <a:rPr lang="en-ZA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n-ZA" b="1" dirty="0">
                <a:latin typeface="Arial" panose="020B0604020202020204" pitchFamily="34" charset="0"/>
                <a:cs typeface="Arial" panose="020B0604020202020204" pitchFamily="34" charset="0"/>
              </a:rPr>
              <a:t>Simple Random Sampling (SRS)</a:t>
            </a:r>
            <a:r>
              <a:rPr lang="en-ZA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lvl="0"/>
            <a:r>
              <a:rPr lang="en-ZA" dirty="0">
                <a:latin typeface="Arial" panose="020B0604020202020204" pitchFamily="34" charset="0"/>
                <a:cs typeface="Arial" panose="020B0604020202020204" pitchFamily="34" charset="0"/>
              </a:rPr>
              <a:t>Narrowest confidence intervals for age, attendance, and child labour.</a:t>
            </a:r>
          </a:p>
          <a:p>
            <a:pPr lvl="0"/>
            <a:r>
              <a:rPr lang="en-ZA" dirty="0">
                <a:latin typeface="Arial" panose="020B0604020202020204" pitchFamily="34" charset="0"/>
                <a:cs typeface="Arial" panose="020B0604020202020204" pitchFamily="34" charset="0"/>
              </a:rPr>
              <a:t>It provided the most precise and reliable estimates for all key parameters.</a:t>
            </a:r>
          </a:p>
          <a:p>
            <a:pPr lvl="0"/>
            <a:r>
              <a:rPr lang="en-ZA" b="1" dirty="0">
                <a:latin typeface="Arial" panose="020B0604020202020204" pitchFamily="34" charset="0"/>
                <a:cs typeface="Arial" panose="020B0604020202020204" pitchFamily="34" charset="0"/>
              </a:rPr>
              <a:t>Least Precise Method: Cluster Sampling </a:t>
            </a:r>
            <a:r>
              <a:rPr lang="en-ZA" dirty="0">
                <a:latin typeface="Arial" panose="020B0604020202020204" pitchFamily="34" charset="0"/>
                <a:cs typeface="Arial" panose="020B0604020202020204" pitchFamily="34" charset="0"/>
              </a:rPr>
              <a:t>Produced very wide, unreliable confidence intervals. High risk of inaccurate estimates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500"/>
                            </p:stCondLst>
                            <p:childTnLst>
                              <p:par>
                                <p:cTn id="3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animBg="1"/>
    </p:bldLst>
  </p:timing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0</TotalTime>
  <Words>695</Words>
  <Application>Microsoft Office PowerPoint</Application>
  <PresentationFormat>Widescreen</PresentationFormat>
  <Paragraphs>179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Aharoni</vt:lpstr>
      <vt:lpstr>Aptos</vt:lpstr>
      <vt:lpstr>Arial</vt:lpstr>
      <vt:lpstr>Gill Sans MT</vt:lpstr>
      <vt:lpstr>Gallery</vt:lpstr>
      <vt:lpstr>Sampling Methods and Analysis of South African Children (Ages 5–17) </vt:lpstr>
      <vt:lpstr>Outline</vt:lpstr>
      <vt:lpstr>Aim of Study</vt:lpstr>
      <vt:lpstr>Data and Variables</vt:lpstr>
      <vt:lpstr>Sampling Methods</vt:lpstr>
      <vt:lpstr>Results Overview</vt:lpstr>
      <vt:lpstr>Results Overview</vt:lpstr>
      <vt:lpstr>Detailed Comparison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Awande Magwaza (223044357)</cp:lastModifiedBy>
  <cp:revision>15</cp:revision>
  <dcterms:created xsi:type="dcterms:W3CDTF">2013-01-27T09:14:16Z</dcterms:created>
  <dcterms:modified xsi:type="dcterms:W3CDTF">2026-08-08T14:15:33Z</dcterms:modified>
  <cp:category/>
</cp:coreProperties>
</file>